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E2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24712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E28A00"/>
                </a:solidFill>
                <a:latin typeface="Segoe UI"/>
              </a:rPr>
              <a:t>ZAVA · INSIGHTS-TO-ACTION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124712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From a plain-English question to a prioritised business action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325880"/>
            <a:ext cx="3200400" cy="5029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28346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2F6FED"/>
                </a:solidFill>
                <a:latin typeface="Segoe UI"/>
              </a:rPr>
              <a:t>THE USE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2788920" cy="13716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1B1F2A"/>
                </a:solidFill>
                <a:latin typeface="Segoe UI"/>
              </a:rPr>
              <a:t>Retail decisions are </a:t>
            </a:r>
            <a:r>
              <a:rPr sz="1100" b="1">
                <a:solidFill>
                  <a:srgbClr val="1B1F2A"/>
                </a:solidFill>
                <a:latin typeface="Segoe UI"/>
              </a:rPr>
              <a:t>cross-domain</a:t>
            </a:r>
            <a:r>
              <a:rPr sz="1100" b="0">
                <a:solidFill>
                  <a:srgbClr val="1B1F2A"/>
                </a:solidFill>
                <a:latin typeface="Segoe UI"/>
              </a:rPr>
              <a:t>. A good call needs three facts at once: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050" b="0">
                <a:solidFill>
                  <a:srgbClr val="5A6172"/>
                </a:solidFill>
                <a:latin typeface="Segoe UI"/>
              </a:rPr>
              <a:t>•  Is it selling more or less?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050" b="0">
                <a:solidFill>
                  <a:srgbClr val="5A6172"/>
                </a:solidFill>
                <a:latin typeface="Segoe UI"/>
              </a:rPr>
              <a:t>•  Can we fulfil it from stock?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050" b="0">
                <a:solidFill>
                  <a:srgbClr val="5A6172"/>
                </a:solidFill>
                <a:latin typeface="Segoe UI"/>
              </a:rPr>
              <a:t>•  Is a campaign behind it, and is it working?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278892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6B4DE0"/>
                </a:solidFill>
                <a:latin typeface="Segoe UI"/>
              </a:rPr>
              <a:t>WHAT WE ARE DOING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03320"/>
            <a:ext cx="2788920" cy="1463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1B1F2A"/>
                </a:solidFill>
                <a:latin typeface="Segoe UI"/>
              </a:rPr>
              <a:t>A team of AI agents reads </a:t>
            </a:r>
            <a:r>
              <a:rPr sz="1050" b="1">
                <a:solidFill>
                  <a:srgbClr val="1B1F2A"/>
                </a:solidFill>
                <a:latin typeface="Segoe UI"/>
              </a:rPr>
              <a:t>live</a:t>
            </a:r>
            <a:r>
              <a:rPr sz="1050" b="0">
                <a:solidFill>
                  <a:srgbClr val="1B1F2A"/>
                </a:solidFill>
                <a:latin typeface="Segoe UI"/>
              </a:rPr>
              <a:t> Sales, Inventory &amp; Marketing data, then an </a:t>
            </a:r>
            <a:r>
              <a:rPr sz="1050" b="1">
                <a:solidFill>
                  <a:srgbClr val="E28A00"/>
                </a:solidFill>
                <a:latin typeface="Segoe UI"/>
              </a:rPr>
              <a:t>Action agent</a:t>
            </a:r>
            <a:r>
              <a:rPr sz="1050" b="0">
                <a:solidFill>
                  <a:srgbClr val="1B1F2A"/>
                </a:solidFill>
                <a:latin typeface="Segoe UI"/>
              </a:rPr>
              <a:t> turns the insights into a ranked set of actions.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29200"/>
            <a:ext cx="278892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29A8F"/>
                </a:solidFill>
                <a:latin typeface="Segoe UI"/>
              </a:rPr>
              <a:t>WHAT WE ACHIEVE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49240"/>
            <a:ext cx="2788920" cy="9601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B1F2A"/>
                </a:solidFill>
                <a:latin typeface="Segoe UI"/>
              </a:rPr>
              <a:t>•  Hours of cross-team analysis  →  seconds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B1F2A"/>
                </a:solidFill>
                <a:latin typeface="Segoe UI"/>
              </a:rPr>
              <a:t>•  Every number is grounded &amp; auditable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B1F2A"/>
                </a:solidFill>
                <a:latin typeface="Segoe UI"/>
              </a:rPr>
              <a:t>•  Each action has an owner + priority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1280160"/>
            <a:ext cx="786384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5A6172"/>
                </a:solidFill>
                <a:latin typeface="Segoe UI"/>
              </a:rPr>
              <a:t>HOW IT WORKS  ·  question flows left to right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86200" y="3200400"/>
            <a:ext cx="1051560" cy="914400"/>
          </a:xfrm>
          <a:prstGeom prst="roundRect">
            <a:avLst>
              <a:gd name="adj" fmla="val 16000"/>
            </a:avLst>
          </a:prstGeom>
          <a:solidFill>
            <a:srgbClr val="3C46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886200" y="3200400"/>
            <a:ext cx="1051560" cy="91440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User</a:t>
            </a:r>
          </a:p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850" b="0">
                <a:solidFill>
                  <a:srgbClr val="ECF0FB"/>
                </a:solidFill>
                <a:latin typeface="Segoe UI"/>
              </a:rPr>
              <a:t>asks in chat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12080" y="1783080"/>
            <a:ext cx="2148840" cy="3703320"/>
          </a:xfrm>
          <a:prstGeom prst="roundRect">
            <a:avLst>
              <a:gd name="adj" fmla="val 6000"/>
            </a:avLst>
          </a:prstGeom>
          <a:solidFill>
            <a:srgbClr val="EAF0FE"/>
          </a:solidFill>
          <a:ln w="15875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12080" y="1847088"/>
            <a:ext cx="214884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2F6FED"/>
                </a:solidFill>
                <a:latin typeface="Segoe UI"/>
              </a:rPr>
              <a:t>AZURE CONTAINER APPS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67528" y="2148840"/>
            <a:ext cx="1828800" cy="777240"/>
          </a:xfrm>
          <a:prstGeom prst="roundRect">
            <a:avLst>
              <a:gd name="adj" fmla="val 16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67528" y="2148840"/>
            <a:ext cx="1828800" cy="77724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Chat app</a:t>
            </a:r>
          </a:p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850" b="0">
                <a:solidFill>
                  <a:srgbClr val="ECF0FB"/>
                </a:solidFill>
                <a:latin typeface="Segoe UI"/>
              </a:rPr>
              <a:t>FastAPI · live UI + charts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67528" y="3063240"/>
            <a:ext cx="1828800" cy="868680"/>
          </a:xfrm>
          <a:prstGeom prst="roundRect">
            <a:avLst>
              <a:gd name="adj" fmla="val 16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367528" y="3063240"/>
            <a:ext cx="1828800" cy="86868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Orchestrator</a:t>
            </a:r>
          </a:p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850" b="0">
                <a:solidFill>
                  <a:srgbClr val="ECF0FB"/>
                </a:solidFill>
                <a:latin typeface="Segoe UI"/>
              </a:rPr>
              <a:t>Agent Framework (Magentic)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67528" y="4069080"/>
            <a:ext cx="1828800" cy="777240"/>
          </a:xfrm>
          <a:prstGeom prst="roundRect">
            <a:avLst>
              <a:gd name="adj" fmla="val 16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367528" y="4069080"/>
            <a:ext cx="1828800" cy="77724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Manager</a:t>
            </a:r>
          </a:p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850" b="0">
                <a:solidFill>
                  <a:srgbClr val="ECF0FB"/>
                </a:solidFill>
                <a:latin typeface="Segoe UI"/>
              </a:rPr>
              <a:t>plans · gpt-4.1-mini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0" y="1371600"/>
            <a:ext cx="2194560" cy="4901184"/>
          </a:xfrm>
          <a:prstGeom prst="roundRect">
            <a:avLst>
              <a:gd name="adj" fmla="val 5000"/>
            </a:avLst>
          </a:prstGeom>
          <a:solidFill>
            <a:srgbClr val="F0ECFB"/>
          </a:solidFill>
          <a:ln w="15875">
            <a:solidFill>
              <a:srgbClr val="6B4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589520" y="1417320"/>
            <a:ext cx="219456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6B4DE0"/>
                </a:solidFill>
                <a:latin typeface="Segoe UI"/>
              </a:rPr>
              <a:t>MICROSOFT FOUNDRY · HOSTED AGENTS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44967" y="1737360"/>
            <a:ext cx="1874519" cy="566928"/>
          </a:xfrm>
          <a:prstGeom prst="roundRect">
            <a:avLst>
              <a:gd name="adj" fmla="val 16000"/>
            </a:avLst>
          </a:prstGeom>
          <a:solidFill>
            <a:srgbClr val="3C46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44967" y="1737360"/>
            <a:ext cx="1874519" cy="5669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Intent Detector</a:t>
            </a:r>
          </a:p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850" b="0">
                <a:solidFill>
                  <a:srgbClr val="ECF0FB"/>
                </a:solidFill>
                <a:latin typeface="Segoe UI"/>
              </a:rPr>
              <a:t>chat vs business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44967" y="2340864"/>
            <a:ext cx="1874519" cy="493776"/>
          </a:xfrm>
          <a:prstGeom prst="roundRect">
            <a:avLst>
              <a:gd name="adj" fmla="val 16000"/>
            </a:avLst>
          </a:prstGeom>
          <a:solidFill>
            <a:srgbClr val="6B4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744967" y="2340864"/>
            <a:ext cx="1874519" cy="493776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Sales agent</a:t>
            </a:r>
          </a:p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850" b="0">
                <a:solidFill>
                  <a:srgbClr val="ECF0FB"/>
                </a:solidFill>
                <a:latin typeface="Segoe UI"/>
              </a:rPr>
              <a:t>trends &amp; revenue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44967" y="2871216"/>
            <a:ext cx="1874519" cy="493776"/>
          </a:xfrm>
          <a:prstGeom prst="roundRect">
            <a:avLst>
              <a:gd name="adj" fmla="val 16000"/>
            </a:avLst>
          </a:prstGeom>
          <a:solidFill>
            <a:srgbClr val="6B4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44967" y="2871216"/>
            <a:ext cx="1874519" cy="493776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Inventory agent</a:t>
            </a:r>
          </a:p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850" b="0">
                <a:solidFill>
                  <a:srgbClr val="ECF0FB"/>
                </a:solidFill>
                <a:latin typeface="Segoe UI"/>
              </a:rPr>
              <a:t>stock &amp; reorder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44967" y="3401568"/>
            <a:ext cx="1874519" cy="493776"/>
          </a:xfrm>
          <a:prstGeom prst="roundRect">
            <a:avLst>
              <a:gd name="adj" fmla="val 16000"/>
            </a:avLst>
          </a:prstGeom>
          <a:solidFill>
            <a:srgbClr val="6B4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44967" y="3401568"/>
            <a:ext cx="1874519" cy="493776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Marketing agent</a:t>
            </a:r>
          </a:p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850" b="0">
                <a:solidFill>
                  <a:srgbClr val="ECF0FB"/>
                </a:solidFill>
                <a:latin typeface="Segoe UI"/>
              </a:rPr>
              <a:t>campaigns &amp; ROI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44967" y="3950208"/>
            <a:ext cx="1874519" cy="658368"/>
          </a:xfrm>
          <a:prstGeom prst="roundRect">
            <a:avLst>
              <a:gd name="adj" fmla="val 16000"/>
            </a:avLst>
          </a:prstGeom>
          <a:solidFill>
            <a:srgbClr val="E2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44967" y="3950208"/>
            <a:ext cx="1874519" cy="65836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Action agent</a:t>
            </a:r>
          </a:p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850" b="0">
                <a:solidFill>
                  <a:srgbClr val="ECF0FB"/>
                </a:solidFill>
                <a:latin typeface="Segoe UI"/>
              </a:rPr>
              <a:t>actions + chart
(Code Interpreter)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44967" y="4663440"/>
            <a:ext cx="1874519" cy="640080"/>
          </a:xfrm>
          <a:prstGeom prst="roundRect">
            <a:avLst>
              <a:gd name="adj" fmla="val 16000"/>
            </a:avLst>
          </a:prstGeom>
          <a:solidFill>
            <a:srgbClr val="1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744967" y="4663440"/>
            <a:ext cx="1874519" cy="64008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Response Gen</a:t>
            </a:r>
          </a:p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850" b="0">
                <a:solidFill>
                  <a:srgbClr val="ECF0FB"/>
                </a:solidFill>
                <a:latin typeface="Segoe UI"/>
              </a:rPr>
              <a:t>writes the final reply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44967" y="5358384"/>
            <a:ext cx="1874519" cy="84124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200"/>
              </a:spcAft>
            </a:pPr>
            <a:r>
              <a:rPr sz="760" b="0">
                <a:solidFill>
                  <a:srgbClr val="5A6172"/>
                </a:solidFill>
                <a:latin typeface="Segoe UI"/>
              </a:rPr>
              <a:t>Greetings skip straight to Response Gen; business questions fan out, then return here.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012680" y="1783080"/>
            <a:ext cx="1737360" cy="3703320"/>
          </a:xfrm>
          <a:prstGeom prst="roundRect">
            <a:avLst>
              <a:gd name="adj" fmla="val 6000"/>
            </a:avLst>
          </a:prstGeom>
          <a:solidFill>
            <a:srgbClr val="E6F5F3"/>
          </a:solidFill>
          <a:ln w="15875">
            <a:solidFill>
              <a:srgbClr val="129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012680" y="1847088"/>
            <a:ext cx="173736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129A8F"/>
                </a:solidFill>
                <a:latin typeface="Segoe UI"/>
              </a:rPr>
              <a:t>GROUNDING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149840" y="2240280"/>
            <a:ext cx="1463040" cy="640080"/>
          </a:xfrm>
          <a:prstGeom prst="roundRect">
            <a:avLst>
              <a:gd name="adj" fmla="val 16000"/>
            </a:avLst>
          </a:prstGeom>
          <a:solidFill>
            <a:srgbClr val="129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149840" y="2240280"/>
            <a:ext cx="1463040" cy="64008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MCP tools</a:t>
            </a:r>
          </a:p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850" b="0">
                <a:solidFill>
                  <a:srgbClr val="ECF0FB"/>
                </a:solidFill>
                <a:latin typeface="Segoe UI"/>
              </a:rPr>
              <a:t>typed, read-only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149840" y="3017520"/>
            <a:ext cx="1463040" cy="685800"/>
          </a:xfrm>
          <a:prstGeom prst="roundRect">
            <a:avLst>
              <a:gd name="adj" fmla="val 16000"/>
            </a:avLst>
          </a:prstGeom>
          <a:solidFill>
            <a:srgbClr val="129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149840" y="3017520"/>
            <a:ext cx="1463040" cy="68580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Cosmos DB</a:t>
            </a:r>
          </a:p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850" b="0">
                <a:solidFill>
                  <a:srgbClr val="ECF0FB"/>
                </a:solidFill>
                <a:latin typeface="Segoe UI"/>
              </a:rPr>
              <a:t>sales · inv · mktg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149840" y="3840480"/>
            <a:ext cx="1463040" cy="685800"/>
          </a:xfrm>
          <a:prstGeom prst="roundRect">
            <a:avLst>
              <a:gd name="adj" fmla="val 16000"/>
            </a:avLst>
          </a:prstGeom>
          <a:solidFill>
            <a:srgbClr val="1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149840" y="3840480"/>
            <a:ext cx="1463040" cy="68580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Foundry IQ</a:t>
            </a:r>
          </a:p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850" b="0">
                <a:solidFill>
                  <a:srgbClr val="ECF0FB"/>
                </a:solidFill>
                <a:latin typeface="Segoe UI"/>
              </a:rPr>
              <a:t>campaign briefs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149840" y="4663440"/>
            <a:ext cx="1463040" cy="658368"/>
          </a:xfrm>
          <a:prstGeom prst="roundRect">
            <a:avLst>
              <a:gd name="adj" fmla="val 16000"/>
            </a:avLst>
          </a:prstGeom>
          <a:solidFill>
            <a:srgbClr val="3C46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149840" y="4663440"/>
            <a:ext cx="1463040" cy="65836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Code sandbox</a:t>
            </a:r>
          </a:p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850" b="0">
                <a:solidFill>
                  <a:srgbClr val="ECF0FB"/>
                </a:solidFill>
                <a:latin typeface="Segoe UI"/>
              </a:rPr>
              <a:t>consolidated math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937760" y="3657600"/>
            <a:ext cx="274320" cy="0"/>
          </a:xfrm>
          <a:prstGeom prst="bentConnector3">
            <a:avLst/>
          </a:prstGeom>
          <a:ln w="22225">
            <a:solidFill>
              <a:srgbClr val="3C465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196328" y="3657600"/>
            <a:ext cx="393192" cy="0"/>
          </a:xfrm>
          <a:prstGeom prst="bentConnector3">
            <a:avLst/>
          </a:prstGeom>
          <a:ln w="22225">
            <a:solidFill>
              <a:srgbClr val="2F6FE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9619488" y="3291840"/>
            <a:ext cx="393192" cy="0"/>
          </a:xfrm>
          <a:prstGeom prst="bentConnector3">
            <a:avLst/>
          </a:prstGeom>
          <a:ln w="22225">
            <a:solidFill>
              <a:srgbClr val="6B4DE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411480" y="6419088"/>
            <a:ext cx="11384280" cy="384048"/>
          </a:xfrm>
          <a:prstGeom prst="roundRect">
            <a:avLst>
              <a:gd name="adj" fmla="val 50000"/>
            </a:avLst>
          </a:prstGeom>
          <a:solidFill>
            <a:srgbClr val="1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48640" y="6437376"/>
            <a:ext cx="11155680" cy="36576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E28A00"/>
                </a:solidFill>
                <a:latin typeface="Segoe UI"/>
              </a:rPr>
              <a:t>Example:  </a:t>
            </a:r>
            <a:r>
              <a:rPr sz="1050" b="0">
                <a:solidFill>
                  <a:srgbClr val="FFFFFF"/>
                </a:solidFill>
                <a:latin typeface="Segoe UI"/>
              </a:rPr>
              <a:t>“Garden sales are trending up — do we have stock and a live campaign to support it? What should we do?”  →  one grounded answer + ranked actions.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E2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24712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E28A00"/>
                </a:solidFill>
                <a:latin typeface="Segoe UI"/>
              </a:rPr>
              <a:t>ZAVA · THE DATA BEHIND THE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124712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Three everyday business records the agents read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1115568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1F2A"/>
                </a:solidFill>
                <a:latin typeface="Segoe UI"/>
              </a:rPr>
              <a:t>The assistant never guesses. </a:t>
            </a:r>
            <a:r>
              <a:rPr sz="1200" b="0">
                <a:solidFill>
                  <a:srgbClr val="1B1F2A"/>
                </a:solidFill>
                <a:latin typeface="Segoe UI"/>
              </a:rPr>
              <a:t>Every answer is built from three simple business records below — the same data your store, supply and marketing teams already use.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737360"/>
            <a:ext cx="3657600" cy="4160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11480" y="1737360"/>
            <a:ext cx="3657600" cy="548640"/>
          </a:xfrm>
          <a:prstGeom prst="roundRect">
            <a:avLst>
              <a:gd name="adj" fmla="val 14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1737360"/>
            <a:ext cx="3291840" cy="54864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🧾   SALES  ·  what we sold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77440"/>
            <a:ext cx="3291840" cy="5029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1B1F2A"/>
                </a:solidFill>
                <a:latin typeface="Segoe UI"/>
              </a:rPr>
              <a:t>One line for every sale we ring up, across all stores and online.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7784" y="2907792"/>
            <a:ext cx="3364992" cy="841248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2944368"/>
            <a:ext cx="3108960" cy="786384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919" b="0">
                <a:solidFill>
                  <a:srgbClr val="333B52"/>
                </a:solidFill>
                <a:latin typeface="Segoe UI"/>
              </a:rPr>
              <a:t>Example:  On 12 May, the Seattle store sold 4 cans of Premium Interior Paint to a DIY customer for $180 (we kept $70 profit).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822191"/>
            <a:ext cx="3291840" cy="1463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80" b="1">
                <a:solidFill>
                  <a:srgbClr val="2F6FED"/>
                </a:solidFill>
                <a:latin typeface="Segoe UI"/>
              </a:rPr>
              <a:t>WHAT IT TELLS US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30" b="0">
                <a:solidFill>
                  <a:srgbClr val="1B1F2A"/>
                </a:solidFill>
                <a:latin typeface="Segoe UI"/>
              </a:rPr>
              <a:t>•  Which product, store and region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30" b="0">
                <a:solidFill>
                  <a:srgbClr val="1B1F2A"/>
                </a:solidFill>
                <a:latin typeface="Segoe UI"/>
              </a:rPr>
              <a:t>•  How many units and the revenue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30" b="0">
                <a:solidFill>
                  <a:srgbClr val="1B1F2A"/>
                </a:solidFill>
                <a:latin typeface="Segoe UI"/>
              </a:rPr>
              <a:t>•  The profit we made on it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30" b="0">
                <a:solidFill>
                  <a:srgbClr val="1B1F2A"/>
                </a:solidFill>
                <a:latin typeface="Segoe UI"/>
              </a:rPr>
              <a:t>•  Customer type: DIY, Pro or Contractor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30" b="0">
                <a:solidFill>
                  <a:srgbClr val="1B1F2A"/>
                </a:solidFill>
                <a:latin typeface="Segoe UI"/>
              </a:rPr>
              <a:t>•  12 months of history, month by month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" y="5321808"/>
            <a:ext cx="3364992" cy="502920"/>
          </a:xfrm>
          <a:prstGeom prst="roundRect">
            <a:avLst>
              <a:gd name="adj" fmla="val 12000"/>
            </a:avLst>
          </a:prstGeom>
          <a:solidFill>
            <a:srgbClr val="FB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512" y="5340096"/>
            <a:ext cx="3154680" cy="47548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880" b="1">
                <a:solidFill>
                  <a:srgbClr val="9A5E00"/>
                </a:solidFill>
                <a:latin typeface="Segoe UI"/>
              </a:rPr>
              <a:t>Answers:  </a:t>
            </a:r>
            <a:r>
              <a:rPr sz="860" b="0">
                <a:solidFill>
                  <a:srgbClr val="6B4510"/>
                </a:solidFill>
                <a:latin typeface="Segoe UI"/>
              </a:rPr>
              <a:t>“What are our best sellers? Is paint growing or cooling? Which stores are ahead?”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24528" y="1737360"/>
            <a:ext cx="3657600" cy="4160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224528" y="1737360"/>
            <a:ext cx="3657600" cy="548640"/>
          </a:xfrm>
          <a:prstGeom prst="roundRect">
            <a:avLst>
              <a:gd name="adj" fmla="val 14000"/>
            </a:avLst>
          </a:prstGeom>
          <a:solidFill>
            <a:srgbClr val="129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07408" y="1737360"/>
            <a:ext cx="3291840" cy="54864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📦   INVENTORY  ·  what we have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2377440"/>
            <a:ext cx="3291840" cy="5029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1B1F2A"/>
                </a:solidFill>
                <a:latin typeface="Segoe UI"/>
              </a:rPr>
              <a:t>How much stock sits in each warehouse, refreshed every week.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2" y="2907792"/>
            <a:ext cx="3364992" cy="841248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98848" y="2944368"/>
            <a:ext cx="3108960" cy="786384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919" b="0">
                <a:solidFill>
                  <a:srgbClr val="333B52"/>
                </a:solidFill>
                <a:latin typeface="Segoe UI"/>
              </a:rPr>
              <a:t>Example:  This week the Seattle warehouse has only 3 cans of Premium Interior Paint left — below the safe level, so it needs reordering now.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07408" y="3822191"/>
            <a:ext cx="3291840" cy="1463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80" b="1">
                <a:solidFill>
                  <a:srgbClr val="129A8F"/>
                </a:solidFill>
                <a:latin typeface="Segoe UI"/>
              </a:rPr>
              <a:t>WHAT IT TELLS US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30" b="0">
                <a:solidFill>
                  <a:srgbClr val="1B1F2A"/>
                </a:solidFill>
                <a:latin typeface="Segoe UI"/>
              </a:rPr>
              <a:t>•  Stock on hand per warehouse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30" b="0">
                <a:solidFill>
                  <a:srgbClr val="1B1F2A"/>
                </a:solidFill>
                <a:latin typeface="Segoe UI"/>
              </a:rPr>
              <a:t>•  A health flag: healthy / low / overstock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30" b="0">
                <a:solidFill>
                  <a:srgbClr val="1B1F2A"/>
                </a:solidFill>
                <a:latin typeface="Segoe UI"/>
              </a:rPr>
              <a:t>•  The reorder point and suggested order qty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30" b="0">
                <a:solidFill>
                  <a:srgbClr val="1B1F2A"/>
                </a:solidFill>
                <a:latin typeface="Segoe UI"/>
              </a:rPr>
              <a:t>•  “Weeks of cover” — how long stock will last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30" b="0">
                <a:solidFill>
                  <a:srgbClr val="1B1F2A"/>
                </a:solidFill>
                <a:latin typeface="Segoe UI"/>
              </a:rPr>
              <a:t>•  4 suppliers feeding 6 warehouses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0832" y="5321808"/>
            <a:ext cx="3364992" cy="502920"/>
          </a:xfrm>
          <a:prstGeom prst="roundRect">
            <a:avLst>
              <a:gd name="adj" fmla="val 12000"/>
            </a:avLst>
          </a:prstGeom>
          <a:solidFill>
            <a:srgbClr val="FB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80560" y="5340096"/>
            <a:ext cx="3154680" cy="47548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880" b="1">
                <a:solidFill>
                  <a:srgbClr val="9A5E00"/>
                </a:solidFill>
                <a:latin typeface="Segoe UI"/>
              </a:rPr>
              <a:t>Answers:  </a:t>
            </a:r>
            <a:r>
              <a:rPr sz="860" b="0">
                <a:solidFill>
                  <a:srgbClr val="6B4510"/>
                </a:solidFill>
                <a:latin typeface="Segoe UI"/>
              </a:rPr>
              <a:t>“What is running low and needs reordering? Where do we have too much?”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37575" y="1737360"/>
            <a:ext cx="3657600" cy="4160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037575" y="1737360"/>
            <a:ext cx="3657600" cy="548640"/>
          </a:xfrm>
          <a:prstGeom prst="roundRect">
            <a:avLst>
              <a:gd name="adj" fmla="val 14000"/>
            </a:avLst>
          </a:prstGeom>
          <a:solidFill>
            <a:srgbClr val="6B4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0455" y="1737360"/>
            <a:ext cx="3291840" cy="54864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📣   MARKETING  ·  what we promote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0455" y="2377440"/>
            <a:ext cx="3291840" cy="5029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1B1F2A"/>
                </a:solidFill>
                <a:latin typeface="Segoe UI"/>
              </a:rPr>
              <a:t>Every promotional campaign — what is live, planned, and how past ones did.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79" y="2907792"/>
            <a:ext cx="3364992" cy="841248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11896" y="2944368"/>
            <a:ext cx="3108960" cy="786384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919" b="0">
                <a:solidFill>
                  <a:srgbClr val="333B52"/>
                </a:solidFill>
                <a:latin typeface="Segoe UI"/>
              </a:rPr>
              <a:t>Example:  ‘Spring Paint Sale’ is live in Seattle, 15% off paint, $40k budget. Last year’s version returned $1.42 for every $1 spent.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0455" y="3822191"/>
            <a:ext cx="3291840" cy="1463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80" b="1">
                <a:solidFill>
                  <a:srgbClr val="6B4DE0"/>
                </a:solidFill>
                <a:latin typeface="Segoe UI"/>
              </a:rPr>
              <a:t>WHAT IT TELLS US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30" b="0">
                <a:solidFill>
                  <a:srgbClr val="1B1F2A"/>
                </a:solidFill>
                <a:latin typeface="Segoe UI"/>
              </a:rPr>
              <a:t>•  Campaign status: live / planned / finished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30" b="0">
                <a:solidFill>
                  <a:srgbClr val="1B1F2A"/>
                </a:solidFill>
                <a:latin typeface="Segoe UI"/>
              </a:rPr>
              <a:t>•  Which products, stores and discount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30" b="0">
                <a:solidFill>
                  <a:srgbClr val="1B1F2A"/>
                </a:solidFill>
                <a:latin typeface="Segoe UI"/>
              </a:rPr>
              <a:t>•  Budget, spend, views and clicks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30" b="0">
                <a:solidFill>
                  <a:srgbClr val="1B1F2A"/>
                </a:solidFill>
                <a:latin typeface="Segoe UI"/>
              </a:rPr>
              <a:t>•  Return on investment (on past campaigns)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30" b="0">
                <a:solidFill>
                  <a:srgbClr val="1B1F2A"/>
                </a:solidFill>
                <a:latin typeface="Segoe UI"/>
              </a:rPr>
              <a:t>•  Written brief + lessons learned (the “why”)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83879" y="5321808"/>
            <a:ext cx="3364992" cy="502920"/>
          </a:xfrm>
          <a:prstGeom prst="roundRect">
            <a:avLst>
              <a:gd name="adj" fmla="val 12000"/>
            </a:avLst>
          </a:prstGeom>
          <a:solidFill>
            <a:srgbClr val="FB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93607" y="5340096"/>
            <a:ext cx="3154680" cy="47548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880" b="1">
                <a:solidFill>
                  <a:srgbClr val="9A5E00"/>
                </a:solidFill>
                <a:latin typeface="Segoe UI"/>
              </a:rPr>
              <a:t>Answers:  </a:t>
            </a:r>
            <a:r>
              <a:rPr sz="860" b="0">
                <a:solidFill>
                  <a:srgbClr val="6B4510"/>
                </a:solidFill>
                <a:latin typeface="Segoe UI"/>
              </a:rPr>
              <a:t>“Which promos are running? Did they pay off? What should we change?”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480" y="6035040"/>
            <a:ext cx="11384280" cy="713232"/>
          </a:xfrm>
          <a:prstGeom prst="roundRect">
            <a:avLst>
              <a:gd name="adj" fmla="val 10000"/>
            </a:avLst>
          </a:prstGeom>
          <a:solidFill>
            <a:srgbClr val="1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94360" y="6053328"/>
            <a:ext cx="11064240" cy="676656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E28A00"/>
                </a:solidFill>
                <a:latin typeface="Segoe UI"/>
              </a:rPr>
              <a:t>The magic is joining all three:  </a:t>
            </a:r>
            <a:r>
              <a:rPr sz="1050" b="0">
                <a:solidFill>
                  <a:srgbClr val="FFFFFF"/>
                </a:solidFill>
                <a:latin typeface="Segoe UI"/>
              </a:rPr>
              <a:t>paint sales are cooling, Seattle is nearly out of paint, and a paint promo is live — so the assistant flags it and recommends an emergency restock before we promote a product we can’t sell.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E2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24712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E28A00"/>
                </a:solidFill>
                <a:latin typeface="Segoe UI"/>
              </a:rPr>
              <a:t>ZAVA · WHERE THE DATA LIVES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124712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Numbers in a database, written knowledge in Foundry IQ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1F2A"/>
                </a:solidFill>
                <a:latin typeface="Segoe UI"/>
              </a:rPr>
              <a:t>We keep data in the place that fits its shape. </a:t>
            </a:r>
            <a:r>
              <a:rPr sz="1200" b="0">
                <a:solidFill>
                  <a:srgbClr val="1B1F2A"/>
                </a:solidFill>
                <a:latin typeface="Segoe UI"/>
              </a:rPr>
              <a:t>Exact numbers go in a database for precise math; written documents go in Foundry IQ so the agent can search them by meaning.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828800"/>
            <a:ext cx="5532120" cy="4160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29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11480" y="1828800"/>
            <a:ext cx="5532120" cy="640080"/>
          </a:xfrm>
          <a:prstGeom prst="roundRect">
            <a:avLst>
              <a:gd name="adj" fmla="val 10000"/>
            </a:avLst>
          </a:prstGeom>
          <a:solidFill>
            <a:srgbClr val="129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5120640" cy="64008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🗄   AZURE COSMOS DB</a:t>
            </a:r>
            <a:r>
              <a:rPr sz="1100" b="0">
                <a:solidFill>
                  <a:srgbClr val="D7F0EC"/>
                </a:solidFill>
                <a:latin typeface="Segoe UI"/>
              </a:rPr>
              <a:t>   ·  the numbers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42032"/>
            <a:ext cx="507492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1B1F2A"/>
                </a:solidFill>
                <a:latin typeface="Segoe UI"/>
              </a:rPr>
              <a:t>Structured records — rows of exact figures the agents add up and rank.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017520"/>
            <a:ext cx="5074920" cy="841248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" y="3017520"/>
            <a:ext cx="128016" cy="8412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3072384"/>
            <a:ext cx="4754880" cy="77724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1100" b="1">
                <a:solidFill>
                  <a:srgbClr val="1B1F2A"/>
                </a:solidFill>
                <a:latin typeface="Segoe UI"/>
              </a:rPr>
              <a:t>Sales records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930" b="0">
                <a:solidFill>
                  <a:srgbClr val="5A6172"/>
                </a:solidFill>
                <a:latin typeface="Segoe UI"/>
              </a:rPr>
              <a:t>every sale: product, store, units, revenue, profit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50208"/>
            <a:ext cx="5074920" cy="841248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950208"/>
            <a:ext cx="128016" cy="841248"/>
          </a:xfrm>
          <a:prstGeom prst="rect">
            <a:avLst/>
          </a:prstGeom>
          <a:solidFill>
            <a:srgbClr val="129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005072"/>
            <a:ext cx="4754880" cy="77724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1100" b="1">
                <a:solidFill>
                  <a:srgbClr val="1B1F2A"/>
                </a:solidFill>
                <a:latin typeface="Segoe UI"/>
              </a:rPr>
              <a:t>Inventory snapshots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930" b="0">
                <a:solidFill>
                  <a:srgbClr val="5A6172"/>
                </a:solidFill>
                <a:latin typeface="Segoe UI"/>
              </a:rPr>
              <a:t>weekly stock per warehouse + health &amp; reorder level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882896"/>
            <a:ext cx="5074920" cy="841248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4882896"/>
            <a:ext cx="128016" cy="841248"/>
          </a:xfrm>
          <a:prstGeom prst="rect">
            <a:avLst/>
          </a:prstGeom>
          <a:solidFill>
            <a:srgbClr val="6B4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4937759"/>
            <a:ext cx="4754880" cy="77724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1100" b="1">
                <a:solidFill>
                  <a:srgbClr val="1B1F2A"/>
                </a:solidFill>
                <a:latin typeface="Segoe UI"/>
              </a:rPr>
              <a:t>Marketing campaigns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930" b="0">
                <a:solidFill>
                  <a:srgbClr val="5A6172"/>
                </a:solidFill>
                <a:latin typeface="Segoe UI"/>
              </a:rPr>
              <a:t>the KPIs: budget, spend, views, clicks, ROI, dates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828800"/>
            <a:ext cx="5532120" cy="4160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E9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263640" y="1828800"/>
            <a:ext cx="5532120" cy="640080"/>
          </a:xfrm>
          <a:prstGeom prst="roundRect">
            <a:avLst>
              <a:gd name="adj" fmla="val 10000"/>
            </a:avLst>
          </a:prstGeom>
          <a:solidFill>
            <a:srgbClr val="1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0" y="1828800"/>
            <a:ext cx="5120640" cy="64008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📚   FOUNDRY IQ</a:t>
            </a:r>
            <a:r>
              <a:rPr sz="1100" b="0">
                <a:solidFill>
                  <a:srgbClr val="D8F1E4"/>
                </a:solidFill>
                <a:latin typeface="Segoe UI"/>
              </a:rPr>
              <a:t>   ·  the written knowledge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542032"/>
            <a:ext cx="507492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1B1F2A"/>
                </a:solidFill>
                <a:latin typeface="Segoe UI"/>
              </a:rPr>
              <a:t>Documents the agent searches </a:t>
            </a:r>
            <a:r>
              <a:rPr sz="1000" b="1">
                <a:solidFill>
                  <a:srgbClr val="1E9E5A"/>
                </a:solidFill>
                <a:latin typeface="Segoe UI"/>
              </a:rPr>
              <a:t>by meaning</a:t>
            </a:r>
            <a:r>
              <a:rPr sz="1000" b="1">
                <a:solidFill>
                  <a:srgbClr val="1B1F2A"/>
                </a:solidFill>
                <a:latin typeface="Segoe UI"/>
              </a:rPr>
              <a:t> — the “why” behind the numbers.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3017520"/>
            <a:ext cx="5074920" cy="841248"/>
          </a:xfrm>
          <a:prstGeom prst="roundRect">
            <a:avLst>
              <a:gd name="adj" fmla="val 8000"/>
            </a:avLst>
          </a:prstGeom>
          <a:solidFill>
            <a:srgbClr val="F1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92240" y="3017520"/>
            <a:ext cx="128016" cy="841248"/>
          </a:xfrm>
          <a:prstGeom prst="rect">
            <a:avLst/>
          </a:prstGeom>
          <a:solidFill>
            <a:srgbClr val="1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66559" y="3072384"/>
            <a:ext cx="4754880" cy="77724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1100" b="1">
                <a:solidFill>
                  <a:srgbClr val="1B1F2A"/>
                </a:solidFill>
                <a:latin typeface="Segoe UI"/>
              </a:rPr>
              <a:t>Campaign briefs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930" b="0">
                <a:solidFill>
                  <a:srgbClr val="5A6172"/>
                </a:solidFill>
                <a:latin typeface="Segoe UI"/>
              </a:rPr>
              <a:t>the plan: goal, target audience, offer, creative direction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3950208"/>
            <a:ext cx="5074920" cy="841248"/>
          </a:xfrm>
          <a:prstGeom prst="roundRect">
            <a:avLst>
              <a:gd name="adj" fmla="val 8000"/>
            </a:avLst>
          </a:prstGeom>
          <a:solidFill>
            <a:srgbClr val="F1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492240" y="3950208"/>
            <a:ext cx="128016" cy="841248"/>
          </a:xfrm>
          <a:prstGeom prst="rect">
            <a:avLst/>
          </a:prstGeom>
          <a:solidFill>
            <a:srgbClr val="E2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766559" y="4005072"/>
            <a:ext cx="4754880" cy="77724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1100" b="1">
                <a:solidFill>
                  <a:srgbClr val="1B1F2A"/>
                </a:solidFill>
                <a:latin typeface="Segoe UI"/>
              </a:rPr>
              <a:t>Post-mortems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930" b="0">
                <a:solidFill>
                  <a:srgbClr val="5A6172"/>
                </a:solidFill>
                <a:latin typeface="Segoe UI"/>
              </a:rPr>
              <a:t>lessons learned: what worked, what to change next time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4882896"/>
            <a:ext cx="5074920" cy="841248"/>
          </a:xfrm>
          <a:prstGeom prst="roundRect">
            <a:avLst>
              <a:gd name="adj" fmla="val 8000"/>
            </a:avLst>
          </a:prstGeom>
          <a:solidFill>
            <a:srgbClr val="F1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92240" y="4882896"/>
            <a:ext cx="128016" cy="841248"/>
          </a:xfrm>
          <a:prstGeom prst="rect">
            <a:avLst/>
          </a:prstGeom>
          <a:solidFill>
            <a:srgbClr val="3C46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766559" y="4937759"/>
            <a:ext cx="4754880" cy="77724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1100" b="1">
                <a:solidFill>
                  <a:srgbClr val="1B1F2A"/>
                </a:solidFill>
                <a:latin typeface="Segoe UI"/>
              </a:rPr>
              <a:t>Marketing playbooks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930" b="0">
                <a:solidFill>
                  <a:srgbClr val="5A6172"/>
                </a:solidFill>
                <a:latin typeface="Segoe UI"/>
              </a:rPr>
              <a:t>best-practice guidance the team follows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6108192"/>
            <a:ext cx="11384280" cy="658368"/>
          </a:xfrm>
          <a:prstGeom prst="roundRect">
            <a:avLst>
              <a:gd name="adj" fmla="val 10000"/>
            </a:avLst>
          </a:prstGeom>
          <a:solidFill>
            <a:srgbClr val="1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94360" y="6126480"/>
            <a:ext cx="11064240" cy="62179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E28A00"/>
                </a:solidFill>
                <a:latin typeface="Segoe UI"/>
              </a:rPr>
              <a:t>Why two stores?  </a:t>
            </a:r>
            <a:r>
              <a:rPr sz="1000" b="0">
                <a:solidFill>
                  <a:srgbClr val="FFFFFF"/>
                </a:solidFill>
                <a:latin typeface="Segoe UI"/>
              </a:rPr>
              <a:t>A database gives exact, auditable numbers; Foundry IQ understands plain-English documents. The Marketing agent uses BOTH — the live KPIs and the written lessons — to answer “did it work, and what should we change?”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E2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24712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E28A00"/>
                </a:solidFill>
                <a:latin typeface="Segoe UI"/>
              </a:rPr>
              <a:t>ZAVA · ONE QUESTION, START TO FINISH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124712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How the agents turn a question into a decision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243584"/>
            <a:ext cx="11384280" cy="548640"/>
          </a:xfrm>
          <a:prstGeom prst="roundRect">
            <a:avLst>
              <a:gd name="adj" fmla="val 12000"/>
            </a:avLst>
          </a:prstGeom>
          <a:solidFill>
            <a:srgbClr val="EAF0FE"/>
          </a:solidFill>
          <a:ln w="15875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243584"/>
            <a:ext cx="10972800" cy="54864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2F6FED"/>
                </a:solidFill>
                <a:latin typeface="Segoe UI"/>
              </a:rPr>
              <a:t>The user asks:   </a:t>
            </a:r>
            <a:r>
              <a:rPr sz="1200" b="1">
                <a:solidFill>
                  <a:srgbClr val="1B1F2A"/>
                </a:solidFill>
                <a:latin typeface="Segoe UI"/>
              </a:rPr>
              <a:t>“Garden — sorry, paint sales are slipping in Seattle. Do we have stock and a campaign in play? What should we do?”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865376"/>
            <a:ext cx="11384280" cy="420624"/>
          </a:xfrm>
          <a:prstGeom prst="roundRect">
            <a:avLst>
              <a:gd name="adj" fmla="val 12000"/>
            </a:avLst>
          </a:prstGeom>
          <a:solidFill>
            <a:srgbClr val="E7EAF1"/>
          </a:solidFill>
          <a:ln w="12700">
            <a:solidFill>
              <a:srgbClr val="3C46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865376"/>
            <a:ext cx="10972800" cy="420624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3C465B"/>
                </a:solidFill>
                <a:latin typeface="Segoe UI"/>
              </a:rPr>
              <a:t>Intent Detector:  </a:t>
            </a:r>
            <a:r>
              <a:rPr sz="1000" b="0">
                <a:solidFill>
                  <a:srgbClr val="1B1F2A"/>
                </a:solidFill>
                <a:latin typeface="Segoe UI"/>
              </a:rPr>
              <a:t>first it classifies the message — a greeting would get a quick friendly reply; this is a business question, so the Manager engages the specialists.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359152"/>
            <a:ext cx="269748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11480" y="2359152"/>
            <a:ext cx="2697480" cy="566928"/>
          </a:xfrm>
          <a:prstGeom prst="roundRect">
            <a:avLst>
              <a:gd name="adj" fmla="val 12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359152"/>
            <a:ext cx="2423160" cy="5669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1   SALES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233172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2F6FED"/>
                </a:solidFill>
                <a:latin typeface="Segoe UI"/>
              </a:rPr>
              <a:t>Looks at sales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346704"/>
            <a:ext cx="2331720" cy="9601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969" b="0">
                <a:solidFill>
                  <a:srgbClr val="1B1F2A"/>
                </a:solidFill>
                <a:latin typeface="Segoe UI"/>
              </a:rPr>
              <a:t>Paint revenue in Seattle has been sliding for 3 months — the category is cooling.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18104" y="3364992"/>
            <a:ext cx="182880" cy="0"/>
          </a:xfrm>
          <a:prstGeom prst="bentConnector3">
            <a:avLst/>
          </a:prstGeom>
          <a:ln w="25400">
            <a:solidFill>
              <a:srgbClr val="5A61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310128" y="2359152"/>
            <a:ext cx="269748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3310128" y="2359152"/>
            <a:ext cx="2697480" cy="566928"/>
          </a:xfrm>
          <a:prstGeom prst="roundRect">
            <a:avLst>
              <a:gd name="adj" fmla="val 12000"/>
            </a:avLst>
          </a:prstGeom>
          <a:solidFill>
            <a:srgbClr val="129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47288" y="2359152"/>
            <a:ext cx="2423160" cy="5669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2   INVENTORY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3008" y="3017520"/>
            <a:ext cx="233172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129A8F"/>
                </a:solidFill>
                <a:latin typeface="Segoe UI"/>
              </a:rPr>
              <a:t>Checks stock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93008" y="3346704"/>
            <a:ext cx="2331720" cy="9601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969" b="0">
                <a:solidFill>
                  <a:srgbClr val="1B1F2A"/>
                </a:solidFill>
                <a:latin typeface="Segoe UI"/>
              </a:rPr>
              <a:t>Seattle warehouse has just 3 cans of the top paint left — below the safe reorder level.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16752" y="3364992"/>
            <a:ext cx="182880" cy="0"/>
          </a:xfrm>
          <a:prstGeom prst="bentConnector3">
            <a:avLst/>
          </a:prstGeom>
          <a:ln w="25400">
            <a:solidFill>
              <a:srgbClr val="5A61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208776" y="2359152"/>
            <a:ext cx="269748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208776" y="2359152"/>
            <a:ext cx="2697480" cy="566928"/>
          </a:xfrm>
          <a:prstGeom prst="roundRect">
            <a:avLst>
              <a:gd name="adj" fmla="val 12000"/>
            </a:avLst>
          </a:prstGeom>
          <a:solidFill>
            <a:srgbClr val="6B4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45936" y="2359152"/>
            <a:ext cx="2423160" cy="5669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3   MARKETING 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1656" y="3017520"/>
            <a:ext cx="233172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6B4DE0"/>
                </a:solidFill>
                <a:latin typeface="Segoe UI"/>
              </a:rPr>
              <a:t>Reviews campaigns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1656" y="3346704"/>
            <a:ext cx="2331720" cy="9601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969" b="0">
                <a:solidFill>
                  <a:srgbClr val="1B1F2A"/>
                </a:solidFill>
                <a:latin typeface="Segoe UI"/>
              </a:rPr>
              <a:t>A ‘Spring Paint Sale’ is LIVE on that exact paint — and last year’s post-mortem (Foundry IQ) warned stock ran out early.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915400" y="3364992"/>
            <a:ext cx="182880" cy="0"/>
          </a:xfrm>
          <a:prstGeom prst="bentConnector3">
            <a:avLst/>
          </a:prstGeom>
          <a:ln w="25400">
            <a:solidFill>
              <a:srgbClr val="5A61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107424" y="2359152"/>
            <a:ext cx="269748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107424" y="2359152"/>
            <a:ext cx="2697480" cy="566928"/>
          </a:xfrm>
          <a:prstGeom prst="roundRect">
            <a:avLst>
              <a:gd name="adj" fmla="val 12000"/>
            </a:avLst>
          </a:prstGeom>
          <a:solidFill>
            <a:srgbClr val="E2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244584" y="2359152"/>
            <a:ext cx="2423160" cy="5669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4   ACTION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0304" y="3017520"/>
            <a:ext cx="233172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E28A00"/>
                </a:solidFill>
                <a:latin typeface="Segoe UI"/>
              </a:rPr>
              <a:t>Decides the moves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90304" y="3346704"/>
            <a:ext cx="2331720" cy="9601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969" b="0">
                <a:solidFill>
                  <a:srgbClr val="1B1F2A"/>
                </a:solidFill>
                <a:latin typeface="Segoe UI"/>
              </a:rPr>
              <a:t>Joins it all up into a ranked set of actions — each with an owner and priority — plus a chart of the numbers.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572000"/>
            <a:ext cx="11384280" cy="1371600"/>
          </a:xfrm>
          <a:prstGeom prst="roundRect">
            <a:avLst>
              <a:gd name="adj" fmla="val 6000"/>
            </a:avLst>
          </a:prstGeom>
          <a:solidFill>
            <a:srgbClr val="FBF3E2"/>
          </a:solidFill>
          <a:ln w="19050">
            <a:solidFill>
              <a:srgbClr val="E2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0080" y="4626864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9A5E00"/>
                </a:solidFill>
                <a:latin typeface="Segoe UI"/>
              </a:rPr>
              <a:t>✓  RECOMMENDED ACTIONS  (what the leader sees)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4992624"/>
            <a:ext cx="10972800" cy="914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98000"/>
              </a:lnSpc>
              <a:spcAft>
                <a:spcPts val="300"/>
              </a:spcAft>
            </a:pPr>
            <a:r>
              <a:rPr sz="1050" b="1">
                <a:solidFill>
                  <a:srgbClr val="1B1F2A"/>
                </a:solidFill>
                <a:latin typeface="Segoe UI"/>
              </a:rPr>
              <a:t>1.  Emergency restock / transfer paint into Seattle this week   </a:t>
            </a:r>
            <a:r>
              <a:rPr sz="1000" b="0">
                <a:solidFill>
                  <a:srgbClr val="5A6172"/>
                </a:solidFill>
                <a:latin typeface="Segoe UI"/>
              </a:rPr>
              <a:t>— Owner: Distributor Ops · Priority: High</a:t>
            </a:r>
          </a:p>
          <a:p>
            <a:pPr algn="l">
              <a:lnSpc>
                <a:spcPct val="98000"/>
              </a:lnSpc>
              <a:spcAft>
                <a:spcPts val="300"/>
              </a:spcAft>
            </a:pPr>
            <a:r>
              <a:rPr sz="1050" b="1">
                <a:solidFill>
                  <a:srgbClr val="1B1F2A"/>
                </a:solidFill>
                <a:latin typeface="Segoe UI"/>
              </a:rPr>
              <a:t>2.  Hold or re-time the Spring Paint promo until stock lands   </a:t>
            </a:r>
            <a:r>
              <a:rPr sz="1000" b="0">
                <a:solidFill>
                  <a:srgbClr val="5A6172"/>
                </a:solidFill>
                <a:latin typeface="Segoe UI"/>
              </a:rPr>
              <a:t>— Owner: Marketing · Priority: High</a:t>
            </a:r>
          </a:p>
          <a:p>
            <a:pPr algn="l">
              <a:lnSpc>
                <a:spcPct val="98000"/>
              </a:lnSpc>
              <a:spcAft>
                <a:spcPts val="300"/>
              </a:spcAft>
            </a:pPr>
            <a:r>
              <a:rPr sz="1050" b="1">
                <a:solidFill>
                  <a:srgbClr val="1B1F2A"/>
                </a:solidFill>
                <a:latin typeface="Segoe UI"/>
              </a:rPr>
              <a:t>3.  Watch the paint downtrend; consider a margin review   </a:t>
            </a:r>
            <a:r>
              <a:rPr sz="1000" b="0">
                <a:solidFill>
                  <a:srgbClr val="5A6172"/>
                </a:solidFill>
                <a:latin typeface="Segoe UI"/>
              </a:rPr>
              <a:t>— Owner: Merchandising · Priority: Medium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035040"/>
            <a:ext cx="1138428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1B1F2A"/>
                </a:solidFill>
                <a:latin typeface="Segoe UI"/>
              </a:rPr>
              <a:t>The </a:t>
            </a:r>
            <a:r>
              <a:rPr sz="1050" b="1">
                <a:solidFill>
                  <a:srgbClr val="1E9E5A"/>
                </a:solidFill>
                <a:latin typeface="Segoe UI"/>
              </a:rPr>
              <a:t>Response Generator</a:t>
            </a:r>
            <a:r>
              <a:rPr sz="1050" b="0">
                <a:solidFill>
                  <a:srgbClr val="1B1F2A"/>
                </a:solidFill>
                <a:latin typeface="Segoe UI"/>
              </a:rPr>
              <a:t> writes the final reply — keeping the Action agent’s chart — and every recommendation cites the exact numbers it came from.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1188</Words>
  <Application>Microsoft Office PowerPoint</Application>
  <PresentationFormat>Widescreen</PresentationFormat>
  <Paragraphs>122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Sandeep Singla</cp:lastModifiedBy>
  <cp:revision>2</cp:revision>
  <dcterms:created xsi:type="dcterms:W3CDTF">2013-01-27T09:14:16Z</dcterms:created>
  <dcterms:modified xsi:type="dcterms:W3CDTF">2026-06-04T04:36:48Z</dcterms:modified>
  <cp:category/>
</cp:coreProperties>
</file>