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47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8A00"/>
                </a:solidFill>
                <a:latin typeface="Segoe UI"/>
              </a:rPr>
              <a:t>ZAVA · INSIGHTS-TO-ACTION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From a plain-English question to a prioritised business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200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834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F6FED"/>
                </a:solidFill>
                <a:latin typeface="Segoe UI"/>
              </a:rPr>
              <a:t>THE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7889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1B1F2A"/>
                </a:solidFill>
                <a:latin typeface="Segoe UI"/>
              </a:rPr>
              <a:t>Retail decisions are </a:t>
            </a:r>
            <a:r>
              <a:rPr sz="1100" b="1">
                <a:solidFill>
                  <a:srgbClr val="1B1F2A"/>
                </a:solidFill>
                <a:latin typeface="Segoe UI"/>
              </a:rPr>
              <a:t>cross-domain</a:t>
            </a:r>
            <a:r>
              <a:rPr sz="1100" b="0">
                <a:solidFill>
                  <a:srgbClr val="1B1F2A"/>
                </a:solidFill>
                <a:latin typeface="Segoe UI"/>
              </a:rPr>
              <a:t>. A good call needs three facts at once: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5A6172"/>
                </a:solidFill>
                <a:latin typeface="Segoe UI"/>
              </a:rPr>
              <a:t>•  Is it selling more or less?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5A6172"/>
                </a:solidFill>
                <a:latin typeface="Segoe UI"/>
              </a:rPr>
              <a:t>•  Can we fulfil it from stock?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5A6172"/>
                </a:solidFill>
                <a:latin typeface="Segoe UI"/>
              </a:rPr>
              <a:t>•  Is a campaign behind it, and is it working?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788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B4DE0"/>
                </a:solidFill>
                <a:latin typeface="Segoe UI"/>
              </a:rPr>
              <a:t>WHAT WE ARE DOING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8892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  <a:latin typeface="Segoe UI"/>
              </a:rPr>
              <a:t>A team of AI agents reads </a:t>
            </a:r>
            <a:r>
              <a:rPr sz="1050" b="1">
                <a:solidFill>
                  <a:srgbClr val="1B1F2A"/>
                </a:solidFill>
                <a:latin typeface="Segoe UI"/>
              </a:rPr>
              <a:t>live</a:t>
            </a:r>
            <a:r>
              <a:rPr sz="1050" b="0">
                <a:solidFill>
                  <a:srgbClr val="1B1F2A"/>
                </a:solidFill>
                <a:latin typeface="Segoe UI"/>
              </a:rPr>
              <a:t> Sales, Inventory &amp; Marketing data, then an </a:t>
            </a:r>
            <a:r>
              <a:rPr sz="1050" b="1">
                <a:solidFill>
                  <a:srgbClr val="E28A00"/>
                </a:solidFill>
                <a:latin typeface="Segoe UI"/>
              </a:rPr>
              <a:t>Action agent</a:t>
            </a:r>
            <a:r>
              <a:rPr sz="1050" b="0">
                <a:solidFill>
                  <a:srgbClr val="1B1F2A"/>
                </a:solidFill>
                <a:latin typeface="Segoe UI"/>
              </a:rPr>
              <a:t> turns the insights into a ranked set of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2788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29A8F"/>
                </a:solidFill>
                <a:latin typeface="Segoe UI"/>
              </a:rPr>
              <a:t>WHAT WE ACHIEVE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27889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B1F2A"/>
                </a:solidFill>
                <a:latin typeface="Segoe UI"/>
              </a:rPr>
              <a:t>•  Hours of cross-team analysis  →  seconds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B1F2A"/>
                </a:solidFill>
                <a:latin typeface="Segoe UI"/>
              </a:rPr>
              <a:t>•  Every number is grounded &amp; auditable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B1F2A"/>
                </a:solidFill>
                <a:latin typeface="Segoe UI"/>
              </a:rPr>
              <a:t>•  Each action has an owner +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280160"/>
            <a:ext cx="7863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A6172"/>
                </a:solidFill>
                <a:latin typeface="Segoe UI"/>
              </a:rPr>
              <a:t>HOW IT WORKS  ·  question flows left to right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200400"/>
            <a:ext cx="1051560" cy="914400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200400"/>
            <a:ext cx="10515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User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asks in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783080"/>
            <a:ext cx="2148840" cy="3703320"/>
          </a:xfrm>
          <a:prstGeom prst="roundRect">
            <a:avLst>
              <a:gd name="adj" fmla="val 6000"/>
            </a:avLst>
          </a:prstGeom>
          <a:solidFill>
            <a:srgbClr val="EA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847088"/>
            <a:ext cx="2148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2F6FED"/>
                </a:solidFill>
                <a:latin typeface="Segoe UI"/>
              </a:rPr>
              <a:t>AZURE CONTAINER APPS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67528" y="2148840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2148840"/>
            <a:ext cx="1828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Chat app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FastAPI · live UI + charts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7528" y="3063240"/>
            <a:ext cx="1828800" cy="868680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7528" y="3063240"/>
            <a:ext cx="18288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Orchestrator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Agent Framework (Magentic)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7528" y="4069080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4069080"/>
            <a:ext cx="1828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Manager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plans · gpt-4.1-mini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371600"/>
            <a:ext cx="2194560" cy="4901184"/>
          </a:xfrm>
          <a:prstGeom prst="roundRect">
            <a:avLst>
              <a:gd name="adj" fmla="val 5000"/>
            </a:avLst>
          </a:prstGeom>
          <a:solidFill>
            <a:srgbClr val="F0ECFB"/>
          </a:solidFill>
          <a:ln w="15875">
            <a:solidFill>
              <a:srgbClr val="6B4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417320"/>
            <a:ext cx="2194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6B4DE0"/>
                </a:solidFill>
                <a:latin typeface="Segoe UI"/>
              </a:rPr>
              <a:t>MICROSOFT FOUNDRY · HOSTED 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4967" y="173736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4967" y="1737360"/>
            <a:ext cx="1874519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Intent Detector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chat vs business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44967" y="2340864"/>
            <a:ext cx="1874519" cy="49377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2340864"/>
            <a:ext cx="1874519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Sales agent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trends &amp;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44967" y="2871216"/>
            <a:ext cx="1874519" cy="49377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7" y="2871216"/>
            <a:ext cx="1874519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Inventory agent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stock &amp; reorder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44967" y="3401568"/>
            <a:ext cx="1874519" cy="49377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4967" y="3401568"/>
            <a:ext cx="1874519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Marketing agent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campaigns &amp; ROI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4967" y="3950208"/>
            <a:ext cx="1874519" cy="658368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7" y="3950208"/>
            <a:ext cx="1874519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Action agent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actions + chart
(Code Interpreter)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44967" y="4663440"/>
            <a:ext cx="1874519" cy="640080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7" y="4663440"/>
            <a:ext cx="1874519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Response Gen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writes the final reply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7" y="5358384"/>
            <a:ext cx="1874519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760" b="0">
                <a:solidFill>
                  <a:srgbClr val="5A6172"/>
                </a:solidFill>
                <a:latin typeface="Segoe UI"/>
              </a:rPr>
              <a:t>Greetings skip straight to Response Gen; business questions fan out, then return here.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12680" y="1783080"/>
            <a:ext cx="1737360" cy="3703320"/>
          </a:xfrm>
          <a:prstGeom prst="roundRect">
            <a:avLst>
              <a:gd name="adj" fmla="val 6000"/>
            </a:avLst>
          </a:prstGeom>
          <a:solidFill>
            <a:srgbClr val="E6F5F3"/>
          </a:solidFill>
          <a:ln w="15875">
            <a:solidFill>
              <a:srgbClr val="129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1847088"/>
            <a:ext cx="17373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29A8F"/>
                </a:solidFill>
                <a:latin typeface="Segoe UI"/>
              </a:rPr>
              <a:t>GROUNDING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2240280"/>
            <a:ext cx="1463040" cy="640080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2240280"/>
            <a:ext cx="1463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MCP tools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typed, read-only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9840" y="301752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3017520"/>
            <a:ext cx="14630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Cosmos DB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sales · inv · mktg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384048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3840480"/>
            <a:ext cx="14630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Foundry IQ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campaign briefs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49840" y="4663440"/>
            <a:ext cx="1463040" cy="658368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0" y="4663440"/>
            <a:ext cx="1463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Code sandbox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>
                <a:solidFill>
                  <a:srgbClr val="ECF0FB"/>
                </a:solidFill>
                <a:latin typeface="Segoe UI"/>
              </a:rPr>
              <a:t>consolidated math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37760" y="3657600"/>
            <a:ext cx="274320" cy="0"/>
          </a:xfrm>
          <a:prstGeom prst="bentConnector3">
            <a:avLst/>
          </a:prstGeom>
          <a:ln w="22225">
            <a:solidFill>
              <a:srgbClr val="3C46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196328" y="3657600"/>
            <a:ext cx="393192" cy="0"/>
          </a:xfrm>
          <a:prstGeom prst="bentConnector3">
            <a:avLst/>
          </a:prstGeom>
          <a:ln w="22225">
            <a:solidFill>
              <a:srgbClr val="2F6F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19488" y="3291840"/>
            <a:ext cx="393192" cy="0"/>
          </a:xfrm>
          <a:prstGeom prst="bentConnector3">
            <a:avLst/>
          </a:prstGeom>
          <a:ln w="22225">
            <a:solidFill>
              <a:srgbClr val="6B4DE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411480" y="6419088"/>
            <a:ext cx="11384280" cy="384048"/>
          </a:xfrm>
          <a:prstGeom prst="roundRect">
            <a:avLst>
              <a:gd name="adj" fmla="val 50000"/>
            </a:avLst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37376"/>
            <a:ext cx="111556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E28A00"/>
                </a:solidFill>
                <a:latin typeface="Segoe UI"/>
              </a:rPr>
              <a:t>Example:  </a:t>
            </a:r>
            <a:r>
              <a:rPr sz="1050" b="0">
                <a:solidFill>
                  <a:srgbClr val="FFFFFF"/>
                </a:solidFill>
                <a:latin typeface="Segoe UI"/>
              </a:rPr>
              <a:t>“Garden sales are trending up — do we have stock and a live campaign to support it? What should we do?”  →  one grounded answer + ranked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47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8A00"/>
                </a:solidFill>
                <a:latin typeface="Segoe UI"/>
              </a:rPr>
              <a:t>ZAVA · THE DATA BEHIND THE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Three everyday business records the agents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1F2A"/>
                </a:solidFill>
                <a:latin typeface="Segoe UI"/>
              </a:rPr>
              <a:t>The assistant never guesses. </a:t>
            </a:r>
            <a:r>
              <a:rPr sz="1200" b="0">
                <a:solidFill>
                  <a:srgbClr val="1B1F2A"/>
                </a:solidFill>
                <a:latin typeface="Segoe UI"/>
              </a:rPr>
              <a:t>Every answer is built from three simple business records below — the same data your store, supply and marketing teams already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737360"/>
            <a:ext cx="3657600" cy="548640"/>
          </a:xfrm>
          <a:prstGeom prst="roundRect">
            <a:avLst>
              <a:gd name="adj" fmla="val 14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32918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🧾   SALES  ·  what we sold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29184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One line for every sale we ring up, across all stores and online.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2907792"/>
            <a:ext cx="336499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1089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919" b="0">
                <a:solidFill>
                  <a:srgbClr val="333B52"/>
                </a:solidFill>
                <a:latin typeface="Segoe UI"/>
              </a:rPr>
              <a:t>Example:  On 12 May, the Seattle store sold 4 cans of Premium Interior Paint to a DIY customer for $180 (we kept $70 profit).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22191"/>
            <a:ext cx="32918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2F6FED"/>
                </a:solidFill>
                <a:latin typeface="Segoe UI"/>
              </a:rPr>
              <a:t>WHAT IT TELLS US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Which product, store and region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How many units and the revenue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The profit we made on it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Customer type: DIY, Pro or Contractor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12 months of history, month by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" y="5321808"/>
            <a:ext cx="3364992" cy="502920"/>
          </a:xfrm>
          <a:prstGeom prst="roundRect">
            <a:avLst>
              <a:gd name="adj" fmla="val 12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40096"/>
            <a:ext cx="31546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80" b="1">
                <a:solidFill>
                  <a:srgbClr val="9A5E00"/>
                </a:solidFill>
                <a:latin typeface="Segoe UI"/>
              </a:rPr>
              <a:t>Answers:  </a:t>
            </a:r>
            <a:r>
              <a:rPr sz="860" b="0">
                <a:solidFill>
                  <a:srgbClr val="6B4510"/>
                </a:solidFill>
                <a:latin typeface="Segoe UI"/>
              </a:rPr>
              <a:t>“What are our best sellers? Is paint growing or cooling? Which stores are ahead?”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1737360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4528" y="1737360"/>
            <a:ext cx="3657600" cy="548640"/>
          </a:xfrm>
          <a:prstGeom prst="roundRect">
            <a:avLst>
              <a:gd name="adj" fmla="val 14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737360"/>
            <a:ext cx="32918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📦   INVENTORY  ·  what we have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377440"/>
            <a:ext cx="329184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How much stock sits in each warehouse, refreshed every week.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907792"/>
            <a:ext cx="336499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944368"/>
            <a:ext cx="31089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919" b="0">
                <a:solidFill>
                  <a:srgbClr val="333B52"/>
                </a:solidFill>
                <a:latin typeface="Segoe UI"/>
              </a:rPr>
              <a:t>Example:  This week the Seattle warehouse has only 3 cans of Premium Interior Paint left — below the safe level, so it needs reordering now.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822191"/>
            <a:ext cx="32918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129A8F"/>
                </a:solidFill>
                <a:latin typeface="Segoe UI"/>
              </a:rPr>
              <a:t>WHAT IT TELLS US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Stock on hand per warehouse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A health flag: healthy / low / overstock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The reorder point and suggested order qty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“Weeks of cover” — how long stock will last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4 suppliers feeding 6 warehouses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5321808"/>
            <a:ext cx="3364992" cy="502920"/>
          </a:xfrm>
          <a:prstGeom prst="roundRect">
            <a:avLst>
              <a:gd name="adj" fmla="val 12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5340096"/>
            <a:ext cx="31546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80" b="1">
                <a:solidFill>
                  <a:srgbClr val="9A5E00"/>
                </a:solidFill>
                <a:latin typeface="Segoe UI"/>
              </a:rPr>
              <a:t>Answers:  </a:t>
            </a:r>
            <a:r>
              <a:rPr sz="860" b="0">
                <a:solidFill>
                  <a:srgbClr val="6B4510"/>
                </a:solidFill>
                <a:latin typeface="Segoe UI"/>
              </a:rPr>
              <a:t>“What is running low and needs reordering? Where do we have too much?”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5" y="1737360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37575" y="1737360"/>
            <a:ext cx="3657600" cy="548640"/>
          </a:xfrm>
          <a:prstGeom prst="roundRect">
            <a:avLst>
              <a:gd name="adj" fmla="val 14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5" y="1737360"/>
            <a:ext cx="32918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📣   MARKETING  ·  what we promote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5" y="2377440"/>
            <a:ext cx="329184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Every promotional campaign — what is live, planned, and how past ones did.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907792"/>
            <a:ext cx="336499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2944368"/>
            <a:ext cx="31089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919" b="0">
                <a:solidFill>
                  <a:srgbClr val="333B52"/>
                </a:solidFill>
                <a:latin typeface="Segoe UI"/>
              </a:rPr>
              <a:t>Example:  ‘Spring Paint Sale’ is live in Seattle, 15% off paint, $40k budget. Last year’s version returned $1.42 for every $1 spent.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5" y="3822191"/>
            <a:ext cx="32918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6B4DE0"/>
                </a:solidFill>
                <a:latin typeface="Segoe UI"/>
              </a:rPr>
              <a:t>WHAT IT TELLS US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Campaign status: live / planned / finished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Which products, stores and discount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Budget, spend, views and clicks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Return on investment (on past campaigns)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30" b="0">
                <a:solidFill>
                  <a:srgbClr val="1B1F2A"/>
                </a:solidFill>
                <a:latin typeface="Segoe UI"/>
              </a:rPr>
              <a:t>•  Written brief + lessons learned (the “why”)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5321808"/>
            <a:ext cx="3364992" cy="502920"/>
          </a:xfrm>
          <a:prstGeom prst="roundRect">
            <a:avLst>
              <a:gd name="adj" fmla="val 12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7" y="5340096"/>
            <a:ext cx="31546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80" b="1">
                <a:solidFill>
                  <a:srgbClr val="9A5E00"/>
                </a:solidFill>
                <a:latin typeface="Segoe UI"/>
              </a:rPr>
              <a:t>Answers:  </a:t>
            </a:r>
            <a:r>
              <a:rPr sz="860" b="0">
                <a:solidFill>
                  <a:srgbClr val="6B4510"/>
                </a:solidFill>
                <a:latin typeface="Segoe UI"/>
              </a:rPr>
              <a:t>“Which promos are running? Did they pay off? What should we change?”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6035040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053328"/>
            <a:ext cx="110642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E28A00"/>
                </a:solidFill>
                <a:latin typeface="Segoe UI"/>
              </a:rPr>
              <a:t>The magic is joining all three:  </a:t>
            </a:r>
            <a:r>
              <a:rPr sz="1050" b="0">
                <a:solidFill>
                  <a:srgbClr val="FFFFFF"/>
                </a:solidFill>
                <a:latin typeface="Segoe UI"/>
              </a:rPr>
              <a:t>paint sales are cooling, Seattle is nearly out of paint, and a paint promo is live — so the assistant flags it and recommends an emergency restock before we promote a product we can’t sell.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47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8A00"/>
                </a:solidFill>
                <a:latin typeface="Segoe UI"/>
              </a:rPr>
              <a:t>ZAVA · WHERE THE DATA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Numbers in a database, written knowledge in Foundry 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1F2A"/>
                </a:solidFill>
                <a:latin typeface="Segoe UI"/>
              </a:rPr>
              <a:t>We keep data in the place that fits its shape. </a:t>
            </a:r>
            <a:r>
              <a:rPr sz="1200" b="0">
                <a:solidFill>
                  <a:srgbClr val="1B1F2A"/>
                </a:solidFill>
                <a:latin typeface="Segoe UI"/>
              </a:rPr>
              <a:t>Exact numbers go in a database for precise math; written documents go in Foundry IQ so the agent can search them by meaning.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55321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29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🗄   AZURE COSMOS DB</a:t>
            </a:r>
            <a:r>
              <a:rPr sz="1100" b="0">
                <a:solidFill>
                  <a:srgbClr val="D7F0EC"/>
                </a:solidFill>
                <a:latin typeface="Segoe UI"/>
              </a:rPr>
              <a:t>   ·  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B1F2A"/>
                </a:solidFill>
                <a:latin typeface="Segoe UI"/>
              </a:rPr>
              <a:t>Structured records — rows of exact figures the agents add up and rank.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28016" cy="8412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4"/>
            <a:ext cx="4754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B1F2A"/>
                </a:solidFill>
                <a:latin typeface="Segoe UI"/>
              </a:rPr>
              <a:t>Sales records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30" b="0">
                <a:solidFill>
                  <a:srgbClr val="5A6172"/>
                </a:solidFill>
                <a:latin typeface="Segoe UI"/>
              </a:rPr>
              <a:t>every sale: product, store, units, revenue, profit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50208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50208"/>
            <a:ext cx="128016" cy="841248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05072"/>
            <a:ext cx="4754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B1F2A"/>
                </a:solidFill>
                <a:latin typeface="Segoe UI"/>
              </a:rPr>
              <a:t>Inventory snapshots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30" b="0">
                <a:solidFill>
                  <a:srgbClr val="5A6172"/>
                </a:solidFill>
                <a:latin typeface="Segoe UI"/>
              </a:rPr>
              <a:t>weekly stock per warehouse + health &amp; reorder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82896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82896"/>
            <a:ext cx="128016" cy="841248"/>
          </a:xfrm>
          <a:prstGeom prst="rect">
            <a:avLst/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59"/>
            <a:ext cx="4754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B1F2A"/>
                </a:solidFill>
                <a:latin typeface="Segoe UI"/>
              </a:rPr>
              <a:t>Marketing campaigns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30" b="0">
                <a:solidFill>
                  <a:srgbClr val="5A6172"/>
                </a:solidFill>
                <a:latin typeface="Segoe UI"/>
              </a:rPr>
              <a:t>the KPIs: budget, spend, views, clicks, ROI, 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5321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82880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828800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📚   FOUNDRY IQ</a:t>
            </a:r>
            <a:r>
              <a:rPr sz="1100" b="0">
                <a:solidFill>
                  <a:srgbClr val="D8F1E4"/>
                </a:solidFill>
                <a:latin typeface="Segoe UI"/>
              </a:rPr>
              <a:t>   ·  the written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42032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B1F2A"/>
                </a:solidFill>
                <a:latin typeface="Segoe UI"/>
              </a:rPr>
              <a:t>Documents the agent searches </a:t>
            </a:r>
            <a:r>
              <a:rPr sz="1000" b="1">
                <a:solidFill>
                  <a:srgbClr val="1E9E5A"/>
                </a:solidFill>
                <a:latin typeface="Segoe UI"/>
              </a:rPr>
              <a:t>by meaning</a:t>
            </a:r>
            <a:r>
              <a:rPr sz="1000" b="1">
                <a:solidFill>
                  <a:srgbClr val="1B1F2A"/>
                </a:solidFill>
                <a:latin typeface="Segoe UI"/>
              </a:rPr>
              <a:t> — the “why” behind the numbers.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01752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017520"/>
            <a:ext cx="128016" cy="84124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3072384"/>
            <a:ext cx="4754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B1F2A"/>
                </a:solidFill>
                <a:latin typeface="Segoe UI"/>
              </a:rPr>
              <a:t>Campaign briefs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30" b="0">
                <a:solidFill>
                  <a:srgbClr val="5A6172"/>
                </a:solidFill>
                <a:latin typeface="Segoe UI"/>
              </a:rPr>
              <a:t>the plan: goal, target audience, offer, creative direction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950208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950208"/>
            <a:ext cx="128016" cy="841248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4005072"/>
            <a:ext cx="4754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B1F2A"/>
                </a:solidFill>
                <a:latin typeface="Segoe UI"/>
              </a:rPr>
              <a:t>Post-mortems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30" b="0">
                <a:solidFill>
                  <a:srgbClr val="5A6172"/>
                </a:solidFill>
                <a:latin typeface="Segoe UI"/>
              </a:rPr>
              <a:t>lessons learned: what worked, what to change next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882896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4882896"/>
            <a:ext cx="128016" cy="841248"/>
          </a:xfrm>
          <a:prstGeom prst="rect">
            <a:avLst/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4937759"/>
            <a:ext cx="4754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B1F2A"/>
                </a:solidFill>
                <a:latin typeface="Segoe UI"/>
              </a:rPr>
              <a:t>Marketing playbooks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30" b="0">
                <a:solidFill>
                  <a:srgbClr val="5A6172"/>
                </a:solidFill>
                <a:latin typeface="Segoe UI"/>
              </a:rPr>
              <a:t>best-practice guidance the team follows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6108192"/>
            <a:ext cx="11384280" cy="658368"/>
          </a:xfrm>
          <a:prstGeom prst="roundRect">
            <a:avLst>
              <a:gd name="adj" fmla="val 10000"/>
            </a:avLst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126480"/>
            <a:ext cx="11064240" cy="6217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E28A00"/>
                </a:solidFill>
                <a:latin typeface="Segoe UI"/>
              </a:rPr>
              <a:t>Why two stores?  </a:t>
            </a:r>
            <a:r>
              <a:rPr sz="1000" b="0">
                <a:solidFill>
                  <a:srgbClr val="FFFFFF"/>
                </a:solidFill>
                <a:latin typeface="Segoe UI"/>
              </a:rPr>
              <a:t>A database gives exact, auditable numbers; Foundry IQ understands plain-English documents. The Marketing agent uses BOTH — the live KPIs and the written lessons — to answer “did it work, and what should we change?”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47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E28A00"/>
                </a:solidFill>
                <a:latin typeface="Segoe UI"/>
              </a:rPr>
              <a:t>ZAVA · ONE QUESTION,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How the agents turn a question into a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43584"/>
            <a:ext cx="11384280" cy="548640"/>
          </a:xfrm>
          <a:prstGeom prst="roundRect">
            <a:avLst>
              <a:gd name="adj" fmla="val 12000"/>
            </a:avLst>
          </a:prstGeom>
          <a:solidFill>
            <a:srgbClr val="EA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43584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F6FED"/>
                </a:solidFill>
                <a:latin typeface="Segoe UI"/>
              </a:rPr>
              <a:t>The user asks:   </a:t>
            </a:r>
            <a:r>
              <a:rPr sz="1200" b="1">
                <a:solidFill>
                  <a:srgbClr val="1B1F2A"/>
                </a:solidFill>
                <a:latin typeface="Segoe UI"/>
              </a:rPr>
              <a:t>“Garden — sorry, paint sales are slipping in Seattle. Do we have stock and a campaign in play? What should we do?”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65376"/>
            <a:ext cx="11384280" cy="420624"/>
          </a:xfrm>
          <a:prstGeom prst="roundRect">
            <a:avLst>
              <a:gd name="adj" fmla="val 12000"/>
            </a:avLst>
          </a:prstGeom>
          <a:solidFill>
            <a:srgbClr val="E7EAF1"/>
          </a:solidFill>
          <a:ln w="12700">
            <a:solidFill>
              <a:srgbClr val="3C46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1097280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3C465B"/>
                </a:solidFill>
                <a:latin typeface="Segoe UI"/>
              </a:rPr>
              <a:t>Intent Detector:  </a:t>
            </a:r>
            <a:r>
              <a:rPr sz="1000" b="0">
                <a:solidFill>
                  <a:srgbClr val="1B1F2A"/>
                </a:solidFill>
                <a:latin typeface="Segoe UI"/>
              </a:rPr>
              <a:t>first it classifies the message — a greeting would get a quick friendly reply; this is a business question, so the Manager engages the specialists.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59152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2359152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24231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1   SALES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F6FED"/>
                </a:solidFill>
                <a:latin typeface="Segoe UI"/>
              </a:rPr>
              <a:t>Looks at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46704"/>
            <a:ext cx="23317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69" b="0">
                <a:solidFill>
                  <a:srgbClr val="1B1F2A"/>
                </a:solidFill>
                <a:latin typeface="Segoe UI"/>
              </a:rPr>
              <a:t>Paint revenue in Seattle has been sliding for 3 months — the category is cooling.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8104" y="3364992"/>
            <a:ext cx="182880" cy="0"/>
          </a:xfrm>
          <a:prstGeom prst="bentConnector3">
            <a:avLst/>
          </a:prstGeom>
          <a:ln w="25400">
            <a:solidFill>
              <a:srgbClr val="5A61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10128" y="2359152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0128" y="2359152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359152"/>
            <a:ext cx="24231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2   INVENTORY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01752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29A8F"/>
                </a:solidFill>
                <a:latin typeface="Segoe UI"/>
              </a:rPr>
              <a:t>Checks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346704"/>
            <a:ext cx="23317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69" b="0">
                <a:solidFill>
                  <a:srgbClr val="1B1F2A"/>
                </a:solidFill>
                <a:latin typeface="Segoe UI"/>
              </a:rPr>
              <a:t>Seattle warehouse has just 3 cans of the top paint left — below the safe reorder level.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16752" y="3364992"/>
            <a:ext cx="182880" cy="0"/>
          </a:xfrm>
          <a:prstGeom prst="bentConnector3">
            <a:avLst/>
          </a:prstGeom>
          <a:ln w="25400">
            <a:solidFill>
              <a:srgbClr val="5A61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08776" y="2359152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2359152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2359152"/>
            <a:ext cx="24231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3   MARKETING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01752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4DE0"/>
                </a:solidFill>
                <a:latin typeface="Segoe UI"/>
              </a:rPr>
              <a:t>Reviews campaigns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3346704"/>
            <a:ext cx="23317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69" b="0">
                <a:solidFill>
                  <a:srgbClr val="1B1F2A"/>
                </a:solidFill>
                <a:latin typeface="Segoe UI"/>
              </a:rPr>
              <a:t>A ‘Spring Paint Sale’ is LIVE on that exact paint — and last year’s post-mortem (Foundry IQ) warned stock ran out early.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15400" y="3364992"/>
            <a:ext cx="182880" cy="0"/>
          </a:xfrm>
          <a:prstGeom prst="bentConnector3">
            <a:avLst/>
          </a:prstGeom>
          <a:ln w="25400">
            <a:solidFill>
              <a:srgbClr val="5A61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07424" y="2359152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07424" y="2359152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2359152"/>
            <a:ext cx="24231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4   ACTION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301752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E28A00"/>
                </a:solidFill>
                <a:latin typeface="Segoe UI"/>
              </a:rPr>
              <a:t>Decides the moves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3346704"/>
            <a:ext cx="23317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69" b="0">
                <a:solidFill>
                  <a:srgbClr val="1B1F2A"/>
                </a:solidFill>
                <a:latin typeface="Segoe UI"/>
              </a:rPr>
              <a:t>Joins it all up into a ranked set of actions — each with an owner and priority — plus a chart of the numbers.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572000"/>
            <a:ext cx="11384280" cy="1371600"/>
          </a:xfrm>
          <a:prstGeom prst="roundRect">
            <a:avLst>
              <a:gd name="adj" fmla="val 6000"/>
            </a:avLst>
          </a:prstGeom>
          <a:solidFill>
            <a:srgbClr val="FBF3E2"/>
          </a:solidFill>
          <a:ln w="19050">
            <a:solidFill>
              <a:srgbClr val="E2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26864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A5E00"/>
                </a:solidFill>
                <a:latin typeface="Segoe UI"/>
              </a:rPr>
              <a:t>✓  RECOMMENDED ACTIONS  (what the leader sees)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92624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1.  Emergency restock / transfer paint into Seattle this week   </a:t>
            </a:r>
            <a:r>
              <a:rPr sz="1000" b="0">
                <a:solidFill>
                  <a:srgbClr val="5A6172"/>
                </a:solidFill>
                <a:latin typeface="Segoe UI"/>
              </a:rPr>
              <a:t>— Owner: Distributor Ops · Priority: High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2.  Hold or re-time the Spring Paint promo until stock lands   </a:t>
            </a:r>
            <a:r>
              <a:rPr sz="1000" b="0">
                <a:solidFill>
                  <a:srgbClr val="5A6172"/>
                </a:solidFill>
                <a:latin typeface="Segoe UI"/>
              </a:rPr>
              <a:t>— Owner: Marketing · Priority: High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3.  Watch the paint downtrend; consider a margin review   </a:t>
            </a:r>
            <a:r>
              <a:rPr sz="1000" b="0">
                <a:solidFill>
                  <a:srgbClr val="5A6172"/>
                </a:solidFill>
                <a:latin typeface="Segoe UI"/>
              </a:rPr>
              <a:t>— Owner: Merchandising · Priority: 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35040"/>
            <a:ext cx="11384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B1F2A"/>
                </a:solidFill>
                <a:latin typeface="Segoe UI"/>
              </a:rPr>
              <a:t>The </a:t>
            </a:r>
            <a:r>
              <a:rPr sz="1050" b="1">
                <a:solidFill>
                  <a:srgbClr val="1E9E5A"/>
                </a:solidFill>
                <a:latin typeface="Segoe UI"/>
              </a:rPr>
              <a:t>Response Generator</a:t>
            </a:r>
            <a:r>
              <a:rPr sz="1050" b="0">
                <a:solidFill>
                  <a:srgbClr val="1B1F2A"/>
                </a:solidFill>
                <a:latin typeface="Segoe UI"/>
              </a:rPr>
              <a:t> writes the final reply — keeping the Action agent’s chart — and every recommendation cites the exact numbers it came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8A00"/>
                </a:solidFill>
                <a:latin typeface="Segoe UI"/>
              </a:rPr>
              <a:t>ZAVA · AGENTIC AI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Segoe UI"/>
              </a:rPr>
              <a:t>The Microsoft agent platform behind this demo — at enterprise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80160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EXPERIENCE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how people &amp; apps 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380744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380744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Microsoft 365 Copilot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Teams · Outlook · 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9220" y="1380744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2372" y="1380744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Copilot Studio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low-code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8" y="1380744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380744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Custom apps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Web / FastAPI · 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9196" y="1380744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2348" y="1380744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Agent 365 / Agent Store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discover &amp;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084831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7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2084831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2084831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TRUST &amp; POLICY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identity · gateway ·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9232" y="218541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2384" y="218541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Microsoft Entra Agent ID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agent identity &amp; AuthZ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9220" y="218541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2372" y="218541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API Management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AI gateway · throttling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9208" y="218541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18541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Microsoft Purview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DLP &amp; governance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9196" y="218541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2348" y="218541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AI Content Safety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+ Defender · responsible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889503"/>
            <a:ext cx="11384280" cy="786384"/>
          </a:xfrm>
          <a:prstGeom prst="roundRect">
            <a:avLst>
              <a:gd name="adj" fmla="val 10000"/>
            </a:avLst>
          </a:prstGeom>
          <a:solidFill>
            <a:srgbClr val="F0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2889503"/>
            <a:ext cx="2423160" cy="786384"/>
          </a:xfrm>
          <a:prstGeom prst="roundRect">
            <a:avLst>
              <a:gd name="adj" fmla="val 10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2889503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ORCHESTRATION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plan · run · remember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99232" y="2990087"/>
            <a:ext cx="2061971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2384" y="2990087"/>
            <a:ext cx="191566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Microsoft Foundry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Agent Service · hosted agents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9220" y="2990087"/>
            <a:ext cx="2061971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2372" y="2990087"/>
            <a:ext cx="191566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Agent Framework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Magentic multi-agent · A2A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79208" y="2990087"/>
            <a:ext cx="2061971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990087"/>
            <a:ext cx="191566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Durable Functions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durable workflow /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69196" y="2990087"/>
            <a:ext cx="2061971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2348" y="2990087"/>
            <a:ext cx="191566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Memory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short &amp; long-term · threads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3767327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11480" y="3767327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3767327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TOOLS &amp; MCP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discover · authorize · call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99232" y="3867911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72384" y="3867911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API Center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MCP registry / catalog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89220" y="3867911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62372" y="3867911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APIM MCP gateway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govern internal &amp; external MCP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79208" y="3867911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867911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Foundry MCP servers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typed, read-only tools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69196" y="3867911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2348" y="3867911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Logic Apps connectors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1000+ enterprise apps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4571999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5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1480" y="4571999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784" y="4571999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KNOWLEDGE &amp; DATA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ground every answer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99232" y="4672583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72384" y="4672583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Cosmos DB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operational records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89220" y="4672583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62372" y="4672583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Foundry IQ / AI Search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vector + semantic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79208" y="4672583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2360" y="4672583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Microsoft Fabric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OneLake · lakehouse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69196" y="4672583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42348" y="4672583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Databricks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analytics / ML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5376671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FD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11480" y="5376671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5376671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MODELS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reason &amp; generate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999232" y="547725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72384" y="547725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Foundry / Azure OpenAI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GPT family LLMs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89220" y="547725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62372" y="547725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Small language models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Phi · cost-efficient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79208" y="547725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52360" y="547725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Model router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right model per task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69196" y="5477255"/>
            <a:ext cx="2061971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42348" y="5477255"/>
            <a:ext cx="19156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Code Interpreter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consolidated math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6419088"/>
            <a:ext cx="11384280" cy="384048"/>
          </a:xfrm>
          <a:prstGeom prst="roundRect">
            <a:avLst>
              <a:gd name="adj" fmla="val 25000"/>
            </a:avLst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6437376"/>
            <a:ext cx="11155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E28A00"/>
                </a:solidFill>
                <a:latin typeface="Segoe UI"/>
              </a:rPr>
              <a:t>Governance &amp; observability span every layer:  </a:t>
            </a:r>
            <a:r>
              <a:rPr sz="1050" b="0">
                <a:solidFill>
                  <a:srgbClr val="FFFFFF"/>
                </a:solidFill>
                <a:latin typeface="Segoe UI"/>
              </a:rPr>
              <a:t>Azure Monitor · Application Insights · Foundry Evaluations · Content Safety · Cost Management (FinOps).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8A00"/>
                </a:solidFill>
                <a:latin typeface="Segoe UI"/>
              </a:rPr>
              <a:t>ZAVA · THIS DEMO ON THE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Segoe UI"/>
              </a:rPr>
              <a:t>Every Zava component is a swap-in of the enterprise building block above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A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80160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EXPERIENCE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how the user 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380744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380744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Chat app (FastAPI)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live UI +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9215" y="1380744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2367" y="1380744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Container Apps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serverless hosting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9200" y="1380744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2352" y="1380744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Streaming UI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plan · agents ·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084831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7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2084831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084831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TRUST &amp; POLICY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identity &amp;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9232" y="2185415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2384" y="2185415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Microsoft Entra ID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DefaultAzureCredential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19215" y="2185415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2367" y="2185415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Basic auth gate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front-door protection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9200" y="2185415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3C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2352" y="2185415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Typed read-only MCP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no write paths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889503"/>
            <a:ext cx="11384280" cy="786384"/>
          </a:xfrm>
          <a:prstGeom prst="roundRect">
            <a:avLst>
              <a:gd name="adj" fmla="val 10000"/>
            </a:avLst>
          </a:prstGeom>
          <a:solidFill>
            <a:srgbClr val="F0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2889503"/>
            <a:ext cx="2423160" cy="786384"/>
          </a:xfrm>
          <a:prstGeom prst="roundRect">
            <a:avLst>
              <a:gd name="adj" fmla="val 10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2889503"/>
            <a:ext cx="2148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ORCHESTRATION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intent routing + Magentic +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9232" y="2990087"/>
            <a:ext cx="1623974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2990087"/>
            <a:ext cx="147767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Agent Framework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Magentic multi-agent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1222" y="2990087"/>
            <a:ext cx="1623974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4374" y="2990087"/>
            <a:ext cx="147767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Intent Detector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chat vs business · shared memory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03212" y="2990087"/>
            <a:ext cx="1623974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6364" y="2990087"/>
            <a:ext cx="147767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Manager · gpt-4.1-mini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plans the specialists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55203" y="2990087"/>
            <a:ext cx="1623974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8355" y="2990087"/>
            <a:ext cx="147767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Sales·Inv·Mktg·Action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Foundry hosted agents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07193" y="2990087"/>
            <a:ext cx="1623974" cy="585216"/>
          </a:xfrm>
          <a:prstGeom prst="roundRect">
            <a:avLst>
              <a:gd name="adj" fmla="val 16000"/>
            </a:avLst>
          </a:prstGeom>
          <a:solidFill>
            <a:srgbClr val="6B4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0345" y="2990087"/>
            <a:ext cx="147767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Response Generator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final reply · keeps charts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767327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1480" y="3767327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" y="3767327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TOOLS &amp; MCP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Cosmos-backed tools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99232" y="3867911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72384" y="3867911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Products MCP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sales &amp; inventory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19215" y="3867911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2367" y="3867911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Marketing MCP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campaigns &amp; ROI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39200" y="3867911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2352" y="3867911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Code sandbox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Code Interpreter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571999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E5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1480" y="4571999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4571999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KNOWLEDGE &amp; DATA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ground every number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99232" y="4672583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72384" y="4672583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Azure Cosmos DB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sales · inventory · marketing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19215" y="4672583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92367" y="4672583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Foundry IQ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briefs &amp; post-mortems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39200" y="4672583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2352" y="4672583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Bing web_search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live context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5376671"/>
            <a:ext cx="11384280" cy="713232"/>
          </a:xfrm>
          <a:prstGeom prst="roundRect">
            <a:avLst>
              <a:gd name="adj" fmla="val 10000"/>
            </a:avLst>
          </a:prstGeom>
          <a:solidFill>
            <a:srgbClr val="FD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11480" y="5376671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5376671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MODELS</a:t>
            </a:r>
          </a:p>
          <a:p>
            <a:pPr algn="l"/>
            <a:r>
              <a:rPr sz="800" b="0">
                <a:solidFill>
                  <a:srgbClr val="ECF0FB"/>
                </a:solidFill>
                <a:latin typeface="Segoe UI"/>
              </a:rPr>
              <a:t>reason &amp; answer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99232" y="5477255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72384" y="5477255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gpt-4.1-mini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manager + agents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19215" y="5477255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2367" y="5477255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Foundry agent models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per-agent config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39200" y="5477255"/>
            <a:ext cx="2791967" cy="512064"/>
          </a:xfrm>
          <a:prstGeom prst="roundRect">
            <a:avLst>
              <a:gd name="adj" fmla="val 16000"/>
            </a:avLst>
          </a:prstGeom>
          <a:solidFill>
            <a:srgbClr val="E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2352" y="5477255"/>
            <a:ext cx="264566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Code Interpreter</a:t>
            </a:r>
          </a:p>
          <a:p>
            <a:pPr algn="ctr"/>
            <a:r>
              <a:rPr sz="800" b="0">
                <a:solidFill>
                  <a:srgbClr val="ECF0FB"/>
                </a:solidFill>
                <a:latin typeface="Segoe UI"/>
              </a:rPr>
              <a:t>consolidated chart + math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1480" y="6419088"/>
            <a:ext cx="11384280" cy="384048"/>
          </a:xfrm>
          <a:prstGeom prst="roundRect">
            <a:avLst>
              <a:gd name="adj" fmla="val 25000"/>
            </a:avLst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437376"/>
            <a:ext cx="11155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E28A00"/>
                </a:solidFill>
                <a:latin typeface="Segoe UI"/>
              </a:rPr>
              <a:t>Observability in the demo:  </a:t>
            </a:r>
            <a:r>
              <a:rPr sz="1050" b="0">
                <a:solidFill>
                  <a:srgbClr val="FFFFFF"/>
                </a:solidFill>
                <a:latin typeface="Segoe UI"/>
              </a:rPr>
              <a:t>Application Insights / OpenTelemetry tracing · Foundry Evaluations · red-team &amp; guardrails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